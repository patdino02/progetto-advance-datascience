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19"/>
  </p:notesMasterIdLst>
  <p:handoutMasterIdLst>
    <p:handoutMasterId r:id="rId20"/>
  </p:handoutMasterIdLst>
  <p:sldIdLst>
    <p:sldId id="256" r:id="rId2"/>
    <p:sldId id="262" r:id="rId3"/>
    <p:sldId id="258" r:id="rId4"/>
    <p:sldId id="261" r:id="rId5"/>
    <p:sldId id="263" r:id="rId6"/>
    <p:sldId id="264" r:id="rId7"/>
    <p:sldId id="267" r:id="rId8"/>
    <p:sldId id="266" r:id="rId9"/>
    <p:sldId id="265" r:id="rId10"/>
    <p:sldId id="268" r:id="rId11"/>
    <p:sldId id="269" r:id="rId12"/>
    <p:sldId id="271" r:id="rId13"/>
    <p:sldId id="270" r:id="rId14"/>
    <p:sldId id="272" r:id="rId15"/>
    <p:sldId id="274" r:id="rId16"/>
    <p:sldId id="273" r:id="rId17"/>
    <p:sldId id="260" r:id="rId18"/>
  </p:sldIdLst>
  <p:sldSz cx="12192000" cy="6858000"/>
  <p:notesSz cx="6858000" cy="9144000"/>
  <p:defaultTextStyle>
    <a:defPPr rtl="0"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8" autoAdjust="0"/>
  </p:normalViewPr>
  <p:slideViewPr>
    <p:cSldViewPr snapToGrid="0">
      <p:cViewPr>
        <p:scale>
          <a:sx n="72" d="100"/>
          <a:sy n="72" d="100"/>
        </p:scale>
        <p:origin x="456" y="-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3" d="100"/>
          <a:sy n="93" d="100"/>
        </p:scale>
        <p:origin x="295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0FA3576-2E34-44A5-91FF-3C53AC3DA648}" type="datetime1">
              <a:rPr lang="it-IT" smtClean="0"/>
              <a:t>21/01/2026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 noProof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F21FEC-DF32-4E90-A279-29D5C0BB0773}" type="datetime1">
              <a:rPr lang="it-IT" smtClean="0"/>
              <a:pPr/>
              <a:t>21/01/2026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it-IT" noProof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B3AB32-59DF-41F1-9618-EDFBF5049629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2C777-4AC0-002B-A0CC-87D71CE65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F1DEF75-E0A5-CC10-D518-CD78346ADE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5FE9BCC-131D-FE0E-8B67-9A6B61D1B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E63177F-CC5C-D5E8-0CF0-276ED69246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12703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28059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1AFD6-9929-2E36-D239-A25612BA2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B22694C-470E-9FB0-7A34-755977FC56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47A5FA0-30D4-164F-F603-4021CD93C7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76F8E19-6D0A-7857-85A5-886A750665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15571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05149-4155-F30F-35D4-D7070B69B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4D1AE89-AC15-93FA-D9CF-957BF7331F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C4ABD48-4EA6-F4FC-965A-A11823A58B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B3668C9-FC3F-C2B8-F60A-05CFC2B870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407543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55343-768B-6F17-B8E7-4BB112509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ADF2243C-FCA2-2606-8950-7E670F2BC1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09552AF-C6D1-EA10-B728-776637A1FF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F0B0202-AD6D-B70A-9F40-C3789956EB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131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14D2A-5FE0-0DEF-907E-29E192F06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24D526E-6B7B-22E9-EC2F-F9C11D6207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9DC7B22-1E48-F5C2-717B-0A602D0E64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033A11C-3D9C-89AD-0685-E16C4A74A1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579701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45849-0F76-1BE4-24FA-26AB72810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2624F52-FC4B-5D37-EC50-0FB601E118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4E33B2A-2E23-8DE3-1930-46BF080DD5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F848AD6-59D7-5C8E-723D-885140BFA4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16704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135C6-BDCC-E952-7257-D707773C2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8FEB854-0073-77B7-105A-3290A199A0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60A3AC8D-B471-4D21-DFFE-B47F9FCFED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BB7D42E-4715-A954-D380-9A3D16AAC0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11322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2888B-EA17-DE8E-E291-5B0B56F22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69C748A-60EE-51DB-2B77-18AE4D22DB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5C8B264-D1E4-635D-C4CD-B6D157CE8B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27B9021-BEEB-9B9F-73C1-855615E89B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34410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2C266-EE8E-5D6E-A305-760A7A0DF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3E6D5A2-7D8B-E03D-6BE1-56CD0B409A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CBEE294-6D51-4748-4FAD-979377DBDE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F74A18A-0DA9-58DC-D1D0-DE24EEB365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524491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81BC4-8089-F69F-9CC2-6BC79C0AC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51BCA45-26D7-A933-8A24-E2C02051C2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90E3903-4DBB-2BCC-2B22-1C2F0C819D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3DC0AD6-03DC-2D3C-A05B-11F3AD86C0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54378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74255-1FA9-44FD-086F-A1EF330F0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C4D837A-F777-40BB-B8D7-3B1A756F7F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6305D7F-9992-A141-A3EA-185A37F810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AB2E5AF-CB9B-12E6-4551-4439FA54EE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091943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ED08B-5F04-BB33-F2FE-F95E1C786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65800F7-E70C-C955-1E82-7A81B7B253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5758E4D-7CA7-7823-6606-B96A70AD93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9050556-B90C-71A3-8970-A601ACF0BA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991598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E903F-04D9-28BD-6468-710EA76B5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A9A5728-E9E4-323A-EB55-C62D2F9599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E5DD948-F2D5-07B4-79A4-7C34D907C6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8E19C6B-AE52-5E1D-41DA-9D32902713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17585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it-IT" noProof="0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7A23933-3F77-4C59-A775-45E2435C8368}" type="datetime1">
              <a:rPr lang="it-IT" noProof="0" smtClean="0"/>
              <a:t>21/01/2026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it-IT" noProof="0" smtClean="0"/>
              <a:pPr rtl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F3FB14C-AC96-42E5-BE0B-73EFAA1A7EA7}" type="datetime1">
              <a:rPr lang="it-IT" noProof="0" smtClean="0"/>
              <a:t>21/01/2026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it-IT" noProof="0" smtClean="0"/>
              <a:pPr rtl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76327E91-20FF-43F1-A337-75953C73E7D7}" type="datetime1">
              <a:rPr lang="it-IT" noProof="0" smtClean="0"/>
              <a:t>21/01/2026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it-IT" noProof="0" smtClean="0"/>
              <a:pPr rtl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EDCB701-B7F2-4988-9CFB-241C1D412354}" type="datetime1">
              <a:rPr lang="it-IT" noProof="0" smtClean="0"/>
              <a:t>21/01/2026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noProof="0" smtClean="0"/>
              <a:pPr rtl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o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9B0459-76CC-4B94-A6C6-908B17D42BC8}" type="datetime1">
              <a:rPr lang="it-IT" noProof="0" smtClean="0"/>
              <a:t>21/01/2026</a:t>
            </a:fld>
            <a:endParaRPr lang="it-IT" noProof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noProof="0" smtClean="0"/>
              <a:pPr rtl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2D572E4-8572-44CF-B6FA-B15ECB2B0691}" type="datetime1">
              <a:rPr lang="it-IT" noProof="0" smtClean="0"/>
              <a:t>21/01/2026</a:t>
            </a:fld>
            <a:endParaRPr lang="it-IT" noProof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noProof="0" smtClean="0"/>
              <a:pPr rtl="0"/>
              <a:t>‹N›</a:t>
            </a:fld>
            <a:endParaRPr lang="it-IT" noProof="0"/>
          </a:p>
        </p:txBody>
      </p:sp>
      <p:sp>
        <p:nvSpPr>
          <p:cNvPr id="7" name="Rettangolo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olo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F266B29-8DDF-40ED-AC5D-ED73AC5A6521}" type="datetime1">
              <a:rPr lang="it-IT" noProof="0" smtClean="0"/>
              <a:t>21/01/2026</a:t>
            </a:fld>
            <a:endParaRPr lang="it-IT" noProof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noProof="0" smtClean="0"/>
              <a:pPr rtl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4CFC7787-2DFD-4221-B49C-354C37128239}" type="datetime1">
              <a:rPr lang="it-IT" noProof="0" smtClean="0"/>
              <a:t>21/01/2026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it-IT" noProof="0" smtClean="0"/>
              <a:pPr rtl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immagine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it-IT" noProof="0"/>
              <a:t>Fare clic sull'icona per inserire un'immagine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3F07A8F-C5D3-4128-B052-E864993A59CE}" type="datetime1">
              <a:rPr lang="it-IT" noProof="0" smtClean="0"/>
              <a:t>21/01/2026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noProof="0" smtClean="0"/>
              <a:pPr rtl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o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4ECE9F-4108-4829-8F23-DFA9C926965D}" type="datetime1">
              <a:rPr lang="it-IT" noProof="0" smtClean="0"/>
              <a:t>21/01/2026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noProof="0" smtClean="0"/>
              <a:pPr rtl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it-IT" noProof="0"/>
              <a:t>Fare clic per modificare lo stile del titolo dello schema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2AB59B6B-A2EF-4B30-AEF7-A3091D0F5449}" type="datetime1">
              <a:rPr lang="it-IT" noProof="0" smtClean="0"/>
              <a:t>21/01/2026</a:t>
            </a:fld>
            <a:endParaRPr lang="it-IT" noProof="0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it-IT" noProof="0" smtClean="0"/>
              <a:pPr rtl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it-IT" noProof="0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A36BACEF-F5E2-445B-BCCF-A68C06C41D7B}" type="datetime1">
              <a:rPr lang="it-IT" noProof="0" smtClean="0"/>
              <a:t>21/01/2026</a:t>
            </a:fld>
            <a:endParaRPr lang="it-IT" noProof="0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it-IT" noProof="0" smtClean="0"/>
              <a:pPr rtl="0"/>
              <a:t>‹N›</a:t>
            </a:fld>
            <a:endParaRPr lang="it-IT" noProof="0"/>
          </a:p>
        </p:txBody>
      </p:sp>
      <p:sp>
        <p:nvSpPr>
          <p:cNvPr id="9" name="Rettango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0" name="Rettango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1" name="Rettango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Progetto_Advance/grafo_rete_aerea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ttangolo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/>
          </a:p>
        </p:txBody>
      </p:sp>
      <p:pic>
        <p:nvPicPr>
          <p:cNvPr id="7" name="Immagine 6" descr="Connessioni digitali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uppo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ttangolo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9" name="Rettangolo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20" name="Rettangolo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</p:grpSp>
      <p:sp>
        <p:nvSpPr>
          <p:cNvPr id="22" name="Rettangolo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 rtlCol="0">
            <a:noAutofit/>
          </a:bodyPr>
          <a:lstStyle/>
          <a:p>
            <a:pPr rtl="0"/>
            <a:r>
              <a:rPr lang="it-IT" sz="6000" dirty="0">
                <a:solidFill>
                  <a:schemeClr val="bg1"/>
                </a:solidFill>
              </a:rPr>
              <a:t>Analisi RETE AEREA USA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895244"/>
          </a:xfrm>
        </p:spPr>
        <p:txBody>
          <a:bodyPr rtlCol="0">
            <a:normAutofit/>
          </a:bodyPr>
          <a:lstStyle/>
          <a:p>
            <a:pPr rtl="0"/>
            <a:r>
              <a:rPr lang="it-IT" dirty="0">
                <a:solidFill>
                  <a:srgbClr val="7CEBFF"/>
                </a:solidFill>
              </a:rPr>
              <a:t>Nome: PATRICK Di noto </a:t>
            </a:r>
            <a:r>
              <a:rPr lang="it-IT" dirty="0" err="1">
                <a:solidFill>
                  <a:srgbClr val="7CEBFF"/>
                </a:solidFill>
              </a:rPr>
              <a:t>marrella</a:t>
            </a:r>
            <a:endParaRPr lang="it-IT" dirty="0">
              <a:solidFill>
                <a:srgbClr val="7CEBFF"/>
              </a:solidFill>
            </a:endParaRPr>
          </a:p>
          <a:p>
            <a:pPr rtl="0"/>
            <a:r>
              <a:rPr lang="it-IT" dirty="0">
                <a:solidFill>
                  <a:srgbClr val="7CEBFF"/>
                </a:solidFill>
              </a:rPr>
              <a:t>Numero di matricola: 158007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CB276-E2EF-A4D4-193E-2FE818C99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82677E5-73E6-1624-51F4-99E5D8A0F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dirty="0"/>
              <a:t>Obiettivi e dataset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8B96B6E-0014-218F-94E8-B0B1935D89D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it-IT" b="1" dirty="0"/>
              <a:t>Contenuto:</a:t>
            </a:r>
            <a:endParaRPr lang="it-IT" dirty="0"/>
          </a:p>
          <a:p>
            <a:r>
              <a:rPr lang="it-IT" dirty="0"/>
              <a:t>Analizzare la struttura della rete aerea domestica USA</a:t>
            </a:r>
          </a:p>
          <a:p>
            <a:r>
              <a:rPr lang="it-IT" dirty="0"/>
              <a:t>Identificare aeroporti critici e hub strategici</a:t>
            </a:r>
          </a:p>
          <a:p>
            <a:r>
              <a:rPr lang="it-IT" dirty="0"/>
              <a:t>Studiare pattern di ritardi e inefficienze operative</a:t>
            </a:r>
          </a:p>
          <a:p>
            <a:r>
              <a:rPr lang="it-IT" dirty="0"/>
              <a:t>Valutare la robustezza della rete agli attacchi mirati</a:t>
            </a:r>
          </a:p>
          <a:p>
            <a:endParaRPr lang="it-IT" dirty="0"/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208328C-C696-89F7-576A-7DCDE6A216A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it-IT" b="1" dirty="0"/>
              <a:t>Dataset:</a:t>
            </a:r>
            <a:endParaRPr lang="it-IT" dirty="0"/>
          </a:p>
          <a:p>
            <a:r>
              <a:rPr lang="it-IT" b="1" dirty="0"/>
              <a:t>358 aeroporti</a:t>
            </a:r>
            <a:r>
              <a:rPr lang="it-IT" dirty="0"/>
              <a:t> domestici USA (airports.csv) effettivi 70</a:t>
            </a:r>
          </a:p>
          <a:p>
            <a:r>
              <a:rPr lang="it-IT" dirty="0"/>
              <a:t>Traffico aereo nei primi 6 mesi (Gennaio – Giugno)</a:t>
            </a:r>
          </a:p>
          <a:p>
            <a:r>
              <a:rPr lang="it-IT" b="1" dirty="0"/>
              <a:t>Migliaia di voli</a:t>
            </a:r>
            <a:r>
              <a:rPr lang="it-IT" dirty="0"/>
              <a:t> commerciali (flights.csv)</a:t>
            </a:r>
          </a:p>
          <a:p>
            <a:r>
              <a:rPr lang="it-IT" dirty="0"/>
              <a:t>Informazioni:  giorni, origine, destinazione, ritardi, orari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84359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dirty="0"/>
              <a:t>Visualizzazione interattiva del grafo 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FBCC554-A390-1EE5-0684-CA43D79510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1" y="1717990"/>
            <a:ext cx="7196123" cy="3633047"/>
          </a:xfrm>
        </p:spPr>
        <p:txBody>
          <a:bodyPr>
            <a:normAutofit/>
          </a:bodyPr>
          <a:lstStyle/>
          <a:p>
            <a:r>
              <a:rPr lang="it-IT" sz="3600" dirty="0">
                <a:hlinkClick r:id="rId3" action="ppaction://hlinkfile"/>
              </a:rPr>
              <a:t>Visualizza il grafo interattivo </a:t>
            </a:r>
            <a:endParaRPr lang="it-IT" sz="3600" dirty="0"/>
          </a:p>
        </p:txBody>
      </p:sp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192A7-01E3-1E4A-EA3D-7685B7B00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C551B3E-8384-4E99-6F34-DD603C181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dirty="0"/>
              <a:t>Aeroporti per </a:t>
            </a:r>
            <a:r>
              <a:rPr lang="it-IT" dirty="0" err="1"/>
              <a:t>betweenness</a:t>
            </a:r>
            <a:endParaRPr lang="it-IT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0DD404D-4F8B-1F41-0FFB-614AD5DCF60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it-IT" dirty="0"/>
              <a:t>Perché </a:t>
            </a:r>
            <a:r>
              <a:rPr lang="it-IT" dirty="0" err="1"/>
              <a:t>Betweenness</a:t>
            </a:r>
            <a:r>
              <a:rPr lang="it-IT" dirty="0"/>
              <a:t>?</a:t>
            </a:r>
          </a:p>
          <a:p>
            <a:r>
              <a:rPr lang="it-IT" b="1" dirty="0" err="1"/>
              <a:t>Betweenness</a:t>
            </a:r>
            <a:r>
              <a:rPr lang="it-IT" dirty="0"/>
              <a:t> identifica quali aeroporti sono </a:t>
            </a:r>
            <a:r>
              <a:rPr lang="it-IT" b="1" dirty="0"/>
              <a:t>ponti obbligati</a:t>
            </a:r>
            <a:r>
              <a:rPr lang="it-IT" dirty="0"/>
              <a:t> tra altre coppie di città</a:t>
            </a:r>
          </a:p>
          <a:p>
            <a:r>
              <a:rPr lang="it-IT" dirty="0"/>
              <a:t>Per tenere conto degli </a:t>
            </a:r>
            <a:r>
              <a:rPr lang="it-IT" dirty="0" err="1"/>
              <a:t>aereoporti</a:t>
            </a:r>
            <a:r>
              <a:rPr lang="it-IT" dirty="0"/>
              <a:t> «scalo»</a:t>
            </a:r>
          </a:p>
          <a:p>
            <a:r>
              <a:rPr lang="it-IT" dirty="0"/>
              <a:t>Un aeroporto con alta </a:t>
            </a:r>
            <a:r>
              <a:rPr lang="it-IT" dirty="0" err="1"/>
              <a:t>betweenness</a:t>
            </a:r>
            <a:r>
              <a:rPr lang="it-IT" dirty="0"/>
              <a:t>, se chiuso, </a:t>
            </a:r>
            <a:r>
              <a:rPr lang="it-IT" b="1" dirty="0"/>
              <a:t>interrompe molti percorsi</a:t>
            </a:r>
            <a:r>
              <a:rPr lang="it-IT" dirty="0"/>
              <a:t> </a:t>
            </a:r>
          </a:p>
          <a:p>
            <a:r>
              <a:rPr lang="it-IT" dirty="0"/>
              <a:t>Denver: non è la città più grande, ma è il </a:t>
            </a:r>
            <a:r>
              <a:rPr lang="it-IT" b="1" dirty="0"/>
              <a:t>punto di scalo ottimale</a:t>
            </a:r>
            <a:r>
              <a:rPr lang="it-IT" dirty="0"/>
              <a:t> tra coste</a:t>
            </a:r>
          </a:p>
          <a:p>
            <a:endParaRPr lang="it-IT" dirty="0"/>
          </a:p>
          <a:p>
            <a:endParaRPr lang="it-IT" dirty="0"/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15DCCC73-1899-9FFC-BEB4-DAAA24EA14B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80163" y="2371295"/>
            <a:ext cx="5421312" cy="334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95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668D5-97BB-53A6-E87B-BABEC7FCE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>
            <a:extLst>
              <a:ext uri="{FF2B5EF4-FFF2-40B4-BE49-F238E27FC236}">
                <a16:creationId xmlns:a16="http://schemas.microsoft.com/office/drawing/2014/main" id="{4537AAB4-4FF7-79F3-C450-591D48B58FC5}"/>
              </a:ext>
            </a:extLst>
          </p:cNvPr>
          <p:cNvSpPr>
            <a:spLocks noGrp="1" noChangeAspect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it-IT" dirty="0"/>
              <a:t>Mappa geografica Usa e principali rotte aeree</a:t>
            </a:r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376AE876-A3E4-7A0D-D0A8-E871ABFFF49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581025" y="2248022"/>
            <a:ext cx="5422900" cy="3592268"/>
          </a:xfrm>
          <a:prstGeom prst="rect">
            <a:avLst/>
          </a:prstGeom>
        </p:spPr>
      </p:pic>
      <p:pic>
        <p:nvPicPr>
          <p:cNvPr id="9" name="Segnaposto contenuto 8">
            <a:extLst>
              <a:ext uri="{FF2B5EF4-FFF2-40B4-BE49-F238E27FC236}">
                <a16:creationId xmlns:a16="http://schemas.microsoft.com/office/drawing/2014/main" id="{C3860FE9-055E-D44D-7117-6E0C1A30FB5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477000" y="2227263"/>
            <a:ext cx="4845049" cy="3633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680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08121-7465-93FB-0882-E7F4C0144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4A36A6-F7AB-B75C-1397-23D92620E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it-IT" dirty="0"/>
              <a:t>Aeroporti con maggior ritardo alla partenza</a:t>
            </a:r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6D292B3F-182D-DDA2-8F89-FAFC0C86CA1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581025" y="2370804"/>
            <a:ext cx="5422900" cy="3346704"/>
          </a:xfrm>
          <a:prstGeom prst="rect">
            <a:avLst/>
          </a:prstGeom>
        </p:spPr>
      </p:pic>
      <p:sp>
        <p:nvSpPr>
          <p:cNvPr id="9" name="Segnaposto contenuto 8">
            <a:extLst>
              <a:ext uri="{FF2B5EF4-FFF2-40B4-BE49-F238E27FC236}">
                <a16:creationId xmlns:a16="http://schemas.microsoft.com/office/drawing/2014/main" id="{E4AF8B4C-E109-92FF-080E-DC59B72367A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Chicago con entrambi gli </a:t>
            </a:r>
            <a:r>
              <a:rPr lang="it-IT" dirty="0" err="1"/>
              <a:t>aereoporti</a:t>
            </a:r>
            <a:r>
              <a:rPr lang="it-IT" dirty="0"/>
              <a:t> sono i protagonisti (in negativo), ma perché?</a:t>
            </a:r>
          </a:p>
          <a:p>
            <a:r>
              <a:rPr lang="it-IT" dirty="0"/>
              <a:t>Perché Chicago combina meteo difficile (neve, vento e temporali), traffico enorme e spazio aereo congestionato</a:t>
            </a:r>
          </a:p>
          <a:p>
            <a:r>
              <a:rPr lang="it-IT" dirty="0"/>
              <a:t>Soprattutto </a:t>
            </a:r>
            <a:r>
              <a:rPr lang="it-IT" dirty="0" err="1"/>
              <a:t>O’Hare</a:t>
            </a:r>
            <a:r>
              <a:rPr lang="it-IT" dirty="0"/>
              <a:t>, nonostante i lavori recenti è nato negli anni 50, gate poco flessibili, rullaggi lunghissimi</a:t>
            </a:r>
          </a:p>
          <a:p>
            <a:r>
              <a:rPr lang="it-IT" dirty="0"/>
              <a:t>Lago Michigan, fenomeni come la </a:t>
            </a:r>
            <a:r>
              <a:rPr lang="it-IT" b="1" dirty="0"/>
              <a:t>neve da effetto lago e la nebbia</a:t>
            </a:r>
          </a:p>
          <a:p>
            <a:r>
              <a:rPr lang="it-IT" dirty="0"/>
              <a:t>Il 30% dei voli è in ritardo (con ritardo medio di 16 min)</a:t>
            </a:r>
          </a:p>
        </p:txBody>
      </p:sp>
    </p:spTree>
    <p:extLst>
      <p:ext uri="{BB962C8B-B14F-4D97-AF65-F5344CB8AC3E}">
        <p14:creationId xmlns:p14="http://schemas.microsoft.com/office/powerpoint/2010/main" val="1653581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egnaposto immagine 9" descr="Immagine che contiene schermata, luce, notte, stella&#10;&#10;Il contenuto generato dall'IA potrebbe non essere corretto.">
            <a:extLst>
              <a:ext uri="{FF2B5EF4-FFF2-40B4-BE49-F238E27FC236}">
                <a16:creationId xmlns:a16="http://schemas.microsoft.com/office/drawing/2014/main" id="{25E903E7-EB3A-1CC2-21D7-496D8AF8B61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3042" b="2688"/>
          <a:stretch>
            <a:fillRect/>
          </a:stretch>
        </p:blipFill>
        <p:spPr>
          <a:xfrm>
            <a:off x="20" y="10"/>
            <a:ext cx="12191980" cy="6857990"/>
          </a:xfrm>
          <a:noFill/>
        </p:spPr>
      </p:pic>
    </p:spTree>
    <p:extLst>
      <p:ext uri="{BB962C8B-B14F-4D97-AF65-F5344CB8AC3E}">
        <p14:creationId xmlns:p14="http://schemas.microsoft.com/office/powerpoint/2010/main" val="3649719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D814D-A9F5-A4AC-9818-F12909422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6D8F771-3470-8641-5F7A-0056E0D04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it-IT" dirty="0"/>
              <a:t>Le rotte con i maggiori ritardi alla partenza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2013E411-D385-A615-9EB2-1D829D0BA37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it-IT" dirty="0"/>
              <a:t>Rotte che partono sistematicamente in ritardo </a:t>
            </a:r>
          </a:p>
          <a:p>
            <a:r>
              <a:rPr lang="it-IT" dirty="0"/>
              <a:t>Notiamo che Chicago è presente 3 volte nella top 10, ma non è la rotta con maggior ritardo alla partenza</a:t>
            </a:r>
          </a:p>
        </p:txBody>
      </p:sp>
      <p:pic>
        <p:nvPicPr>
          <p:cNvPr id="9" name="Segnaposto contenuto 8">
            <a:extLst>
              <a:ext uri="{FF2B5EF4-FFF2-40B4-BE49-F238E27FC236}">
                <a16:creationId xmlns:a16="http://schemas.microsoft.com/office/drawing/2014/main" id="{C176283F-31C8-FA40-DD45-8E24F2A4946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581025" y="2370804"/>
            <a:ext cx="5422900" cy="334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881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D616D-B43D-1270-BD08-04263BFAF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9DB886-8599-6DB5-3507-004C0228E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77784"/>
            <a:ext cx="11029616" cy="988332"/>
          </a:xfrm>
        </p:spPr>
        <p:txBody>
          <a:bodyPr rtlCol="0"/>
          <a:lstStyle/>
          <a:p>
            <a:r>
              <a:rPr lang="it-IT" dirty="0"/>
              <a:t>ANALISI TEMPO PERSO/GUADAGNATO IN VOLO</a:t>
            </a:r>
          </a:p>
        </p:txBody>
      </p:sp>
      <p:pic>
        <p:nvPicPr>
          <p:cNvPr id="3" name="Segnaposto contenuto 2">
            <a:extLst>
              <a:ext uri="{FF2B5EF4-FFF2-40B4-BE49-F238E27FC236}">
                <a16:creationId xmlns:a16="http://schemas.microsoft.com/office/drawing/2014/main" id="{F8DAA678-864F-F4D3-0E02-55BF5748224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581025" y="2370804"/>
            <a:ext cx="5422900" cy="3346704"/>
          </a:xfrm>
          <a:prstGeom prst="rect">
            <a:avLst/>
          </a:prstGeom>
        </p:spPr>
      </p:pic>
      <p:sp>
        <p:nvSpPr>
          <p:cNvPr id="9" name="Segnaposto contenuto 8">
            <a:extLst>
              <a:ext uri="{FF2B5EF4-FFF2-40B4-BE49-F238E27FC236}">
                <a16:creationId xmlns:a16="http://schemas.microsoft.com/office/drawing/2014/main" id="{CBC2B2F9-ED54-1E6A-CE9B-1066738FC3B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it-IT" dirty="0"/>
              <a:t>La </a:t>
            </a:r>
            <a:r>
              <a:rPr lang="it-IT" b="1" dirty="0"/>
              <a:t>media verde</a:t>
            </a:r>
            <a:r>
              <a:rPr lang="it-IT" dirty="0"/>
              <a:t> (+3.9 min) indica che mediamente i piloti </a:t>
            </a:r>
            <a:r>
              <a:rPr lang="it-IT" b="1" dirty="0"/>
              <a:t>recuperano tempo</a:t>
            </a:r>
            <a:r>
              <a:rPr lang="it-IT" dirty="0"/>
              <a:t> durante il volo</a:t>
            </a:r>
          </a:p>
          <a:p>
            <a:r>
              <a:rPr lang="it-IT" dirty="0"/>
              <a:t>Questo significa che partono in ritardo ma arrivano con meno ritardo rispetto alla partenza</a:t>
            </a:r>
          </a:p>
          <a:p>
            <a:r>
              <a:rPr lang="it-IT" dirty="0"/>
              <a:t>La simmetria suggerisce che i fattori che influenzano il recupero sono </a:t>
            </a:r>
            <a:r>
              <a:rPr lang="it-IT" b="1" dirty="0"/>
              <a:t>bilanciati</a:t>
            </a:r>
            <a:r>
              <a:rPr lang="it-IT" dirty="0"/>
              <a:t> (venti favorevoli/contrari, spazio aereo libero/congestionato)</a:t>
            </a:r>
          </a:p>
          <a:p>
            <a:r>
              <a:rPr lang="it-IT" dirty="0"/>
              <a:t>Gli orari di volo ufficiali includono </a:t>
            </a:r>
            <a:r>
              <a:rPr lang="it-IT" b="1" dirty="0"/>
              <a:t>margini di sicurezza</a:t>
            </a:r>
            <a:r>
              <a:rPr lang="it-IT" dirty="0"/>
              <a:t> (buffer time)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20639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633FB-7403-4EAF-7160-1482A047A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C32A827-3BEC-1B9A-4230-570156D79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it-IT" dirty="0"/>
              <a:t>ANALISI TEMPO PERSO/GUADAGNATO IN VOLO</a:t>
            </a:r>
          </a:p>
        </p:txBody>
      </p:sp>
      <p:pic>
        <p:nvPicPr>
          <p:cNvPr id="3" name="Segnaposto contenuto 2">
            <a:extLst>
              <a:ext uri="{FF2B5EF4-FFF2-40B4-BE49-F238E27FC236}">
                <a16:creationId xmlns:a16="http://schemas.microsoft.com/office/drawing/2014/main" id="{AC046FF2-469B-E9E0-9187-5AFBDDFECF9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581025" y="2370804"/>
            <a:ext cx="5422900" cy="3346704"/>
          </a:xfrm>
          <a:prstGeom prst="rect">
            <a:avLst/>
          </a:prstGeom>
        </p:spPr>
      </p:pic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D1B292C-A499-94EB-5E34-EAFACBF0721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 </a:t>
            </a:r>
          </a:p>
          <a:p>
            <a:r>
              <a:rPr lang="it-IT" dirty="0"/>
              <a:t>Le compagnie inseriscono margini extra negli orari ufficiali (per traffico e ritardi). </a:t>
            </a:r>
          </a:p>
          <a:p>
            <a:r>
              <a:rPr lang="it-IT" dirty="0">
                <a:sym typeface="Wingdings" panose="05000000000000000000" pitchFamily="2" charset="2"/>
              </a:rPr>
              <a:t>Alcuni aeroporti come quello di Kansas ha meno </a:t>
            </a:r>
            <a:r>
              <a:rPr lang="it-IT" dirty="0"/>
              <a:t> traffico e attese rispetto a NYC, quindi l’atterraggio è spesso diretto.</a:t>
            </a:r>
          </a:p>
          <a:p>
            <a:r>
              <a:rPr lang="it-IT" dirty="0"/>
              <a:t>Nella Top 12, solo Seattle </a:t>
            </a:r>
            <a:r>
              <a:rPr lang="it-IT" dirty="0">
                <a:sym typeface="Wingdings" panose="05000000000000000000" pitchFamily="2" charset="2"/>
              </a:rPr>
              <a:t> Miami è una tratta da Ovest a Est.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93262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9954B-55EC-7AD1-5DB3-1D85B3A86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7D1E4F-40FA-8F37-A506-B23AE722F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dirty="0"/>
              <a:t>La Direzioni dei  venti influisce?</a:t>
            </a:r>
          </a:p>
        </p:txBody>
      </p:sp>
      <p:pic>
        <p:nvPicPr>
          <p:cNvPr id="3" name="Segnaposto contenuto 2">
            <a:extLst>
              <a:ext uri="{FF2B5EF4-FFF2-40B4-BE49-F238E27FC236}">
                <a16:creationId xmlns:a16="http://schemas.microsoft.com/office/drawing/2014/main" id="{F0528FEF-684E-8F7F-5BB2-82636DB3A16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843619" y="2227263"/>
            <a:ext cx="4897712" cy="3633787"/>
          </a:xfrm>
          <a:prstGeom prst="rect">
            <a:avLst/>
          </a:prstGeom>
        </p:spPr>
      </p:pic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0F74D9F-DA0E-D32D-34A4-084E9373AD5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it-IT" dirty="0"/>
              <a:t>Perché le rotte EST → OVEST recuperano più tempo (nonostante venti contrari)?</a:t>
            </a:r>
          </a:p>
          <a:p>
            <a:r>
              <a:rPr lang="it-IT" dirty="0"/>
              <a:t>Le rotte contro vento (EST→OVEST) sono </a:t>
            </a:r>
            <a:r>
              <a:rPr lang="it-IT" b="1" dirty="0"/>
              <a:t>più imprevedibili</a:t>
            </a:r>
            <a:r>
              <a:rPr lang="it-IT" dirty="0"/>
              <a:t>: i venti occidentali variano in intensità</a:t>
            </a:r>
          </a:p>
          <a:p>
            <a:r>
              <a:rPr lang="it-IT" dirty="0"/>
              <a:t>Le compagnie aeree inseriscono BUFFER PIÙ GRANDI per rotte EST→OVEST (fattore principale)</a:t>
            </a:r>
          </a:p>
          <a:p>
            <a:r>
              <a:rPr lang="it-IT" dirty="0"/>
              <a:t>In alcuni aeroporti è più «veloce» atterrare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22684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4FEF6-9F0A-B013-2BD2-8E8DBA233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B14866-C2DC-9ACF-787C-403F16100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it-IT" dirty="0"/>
              <a:t>ANALISI RITARDI PER GIORNO DELLA SETTIMANA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55B132C-440A-61C8-378D-DB9E93CC966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it-IT" dirty="0"/>
              <a:t>Venerdì = picco settimanale: 13.6 min di ritardo medio (406,563 voli)</a:t>
            </a:r>
          </a:p>
          <a:p>
            <a:r>
              <a:rPr lang="it-IT" dirty="0"/>
              <a:t>Sabato = giorno più puntuale: 7.4 min di ritardo medio (318,537 voli)</a:t>
            </a:r>
          </a:p>
          <a:p>
            <a:r>
              <a:rPr lang="it-IT" dirty="0"/>
              <a:t>Gap weekend vs feriali: ~4.5 minuti di differenza media</a:t>
            </a:r>
          </a:p>
          <a:p>
            <a:pPr marL="0" indent="0">
              <a:buNone/>
            </a:pPr>
            <a:r>
              <a:rPr lang="it-IT" b="1" dirty="0"/>
              <a:t>Perché venerdì è peggiore?</a:t>
            </a:r>
            <a:endParaRPr lang="it-IT" dirty="0"/>
          </a:p>
          <a:p>
            <a:r>
              <a:rPr lang="it-IT" dirty="0"/>
              <a:t>Traffico business fine settimana + partenze anticipate </a:t>
            </a:r>
            <a:r>
              <a:rPr lang="it-IT" dirty="0" err="1"/>
              <a:t>leisure</a:t>
            </a:r>
            <a:endParaRPr lang="it-IT" dirty="0"/>
          </a:p>
          <a:p>
            <a:r>
              <a:rPr lang="it-IT" dirty="0"/>
              <a:t>Accumulo ritardi settimanali</a:t>
            </a:r>
          </a:p>
          <a:p>
            <a:pPr marL="0" indent="0">
              <a:buNone/>
            </a:pPr>
            <a:r>
              <a:rPr lang="it-IT" b="1" dirty="0"/>
              <a:t>Perché sabato è migliore:</a:t>
            </a:r>
            <a:endParaRPr lang="it-IT" dirty="0"/>
          </a:p>
          <a:p>
            <a:r>
              <a:rPr lang="it-IT" dirty="0"/>
              <a:t>Volume traffico -22% vs feriali</a:t>
            </a:r>
          </a:p>
          <a:p>
            <a:r>
              <a:rPr lang="it-IT" dirty="0"/>
              <a:t>Traffico </a:t>
            </a:r>
            <a:r>
              <a:rPr lang="it-IT" dirty="0" err="1"/>
              <a:t>leisure</a:t>
            </a:r>
            <a:r>
              <a:rPr lang="it-IT" dirty="0"/>
              <a:t> (meno sensibile agli orari)</a:t>
            </a:r>
          </a:p>
          <a:p>
            <a:pPr marL="0" indent="0">
              <a:buNone/>
            </a:pPr>
            <a:r>
              <a:rPr lang="it-IT" b="1" dirty="0"/>
              <a:t>Perché domenica peggiora vs sabato:</a:t>
            </a:r>
            <a:endParaRPr lang="it-IT" dirty="0"/>
          </a:p>
          <a:p>
            <a:r>
              <a:rPr lang="it-IT" dirty="0"/>
              <a:t>Concentrazione rientri pomeriggio/sera (14:00-21:00)</a:t>
            </a:r>
          </a:p>
          <a:p>
            <a:endParaRPr lang="it-IT" dirty="0"/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30D1E253-AEB6-1888-8D82-0D985050FF2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869950" y="2227263"/>
            <a:ext cx="4845049" cy="3633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781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D31DA-1FC6-16D8-C880-A79D427E5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1C626EF-DD3A-1148-D7E4-E9A7B702C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dirty="0" err="1"/>
              <a:t>Heatmap</a:t>
            </a:r>
            <a:r>
              <a:rPr lang="it-IT" dirty="0"/>
              <a:t> ritardi partenza</a:t>
            </a:r>
          </a:p>
        </p:txBody>
      </p:sp>
      <p:pic>
        <p:nvPicPr>
          <p:cNvPr id="3" name="Segnaposto contenuto 2">
            <a:extLst>
              <a:ext uri="{FF2B5EF4-FFF2-40B4-BE49-F238E27FC236}">
                <a16:creationId xmlns:a16="http://schemas.microsoft.com/office/drawing/2014/main" id="{C700E6F6-BF2C-59DF-E7BF-1200B2E9D92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581025" y="2494756"/>
            <a:ext cx="5422900" cy="3098800"/>
          </a:xfrm>
          <a:prstGeom prst="rect">
            <a:avLst/>
          </a:prstGeom>
        </p:spPr>
      </p:pic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1902393C-CE74-8D82-7669-16CA0272CA7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it-IT" dirty="0"/>
              <a:t>I giorni peggiori per partire risultano giovedì e venerdì</a:t>
            </a:r>
          </a:p>
          <a:p>
            <a:r>
              <a:rPr lang="it-IT" dirty="0"/>
              <a:t>I giorni migliori per partire sono sabato e domenica.</a:t>
            </a:r>
          </a:p>
        </p:txBody>
      </p:sp>
    </p:spTree>
    <p:extLst>
      <p:ext uri="{BB962C8B-B14F-4D97-AF65-F5344CB8AC3E}">
        <p14:creationId xmlns:p14="http://schemas.microsoft.com/office/powerpoint/2010/main" val="31673350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52ACD-98C0-0AED-B90E-016C7203F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B01F31-3268-F9FD-623B-53833BCEC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dirty="0"/>
              <a:t>Cluster aeroporti simili per ritardi</a:t>
            </a:r>
          </a:p>
        </p:txBody>
      </p:sp>
      <p:pic>
        <p:nvPicPr>
          <p:cNvPr id="3" name="Segnaposto contenuto 2">
            <a:extLst>
              <a:ext uri="{FF2B5EF4-FFF2-40B4-BE49-F238E27FC236}">
                <a16:creationId xmlns:a16="http://schemas.microsoft.com/office/drawing/2014/main" id="{21545393-1930-E285-083D-56D6C46F22C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581025" y="2370804"/>
            <a:ext cx="5422900" cy="3346704"/>
          </a:xfrm>
          <a:prstGeom prst="rect">
            <a:avLst/>
          </a:prstGeom>
        </p:spPr>
      </p:pic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1B62A20-7366-5C64-C58B-D784A317F85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dirty="0">
                <a:solidFill>
                  <a:schemeClr val="tx1"/>
                </a:solidFill>
              </a:rPr>
              <a:t>Il numero ottimale di cluster scelto attraverso il metodo silhouette</a:t>
            </a:r>
          </a:p>
          <a:p>
            <a:r>
              <a:rPr lang="it-IT" dirty="0">
                <a:solidFill>
                  <a:srgbClr val="00B050"/>
                </a:solidFill>
              </a:rPr>
              <a:t>VERDE  CLUSTER 1 </a:t>
            </a:r>
            <a:r>
              <a:rPr lang="it-IT" dirty="0"/>
              <a:t>- "Aeroporti Mediamente Efficienti" (34 aeroporti), questo cluster presenta ritardi moderati, (9.41 minuti alla partenza, 6.19 all'arrivo)</a:t>
            </a:r>
          </a:p>
          <a:p>
            <a:r>
              <a:rPr lang="it-IT" dirty="0">
                <a:solidFill>
                  <a:srgbClr val="FFC000"/>
                </a:solidFill>
              </a:rPr>
              <a:t>ARANCIO CLUSTER 2 </a:t>
            </a:r>
            <a:r>
              <a:rPr lang="it-IT" dirty="0"/>
              <a:t>- "Aeroporti Più Puntuali" (21 aeroporti), questo cluster si distingue per i ritardi più bassi tra tutti i gruppi (6.50 minuti alla partenza, 3.30 all'arrivo)</a:t>
            </a:r>
          </a:p>
          <a:p>
            <a:r>
              <a:rPr lang="it-IT" dirty="0">
                <a:solidFill>
                  <a:srgbClr val="0070C0"/>
                </a:solidFill>
              </a:rPr>
              <a:t>BLU CLUSTER 3 </a:t>
            </a:r>
            <a:r>
              <a:rPr lang="it-IT" dirty="0"/>
              <a:t>- "Mega-Hub Congestionati" (15 aeroporti), questo cluster presenta i ritardi più elevati (13.27 minuti alla partenza, 8.62 all'arrivo)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4192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C5A47-036B-D228-5ABF-11D01BA57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105086-E7FA-D5CD-2AA0-D766BAE10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dirty="0"/>
              <a:t>Confronto tra cluster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0710CD7-AC00-91C1-0E4D-E4738A9D2EF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it-IT" dirty="0"/>
              <a:t>Ritardo medio partenza: media semplice dei minuti di ritardo alla partenza</a:t>
            </a:r>
          </a:p>
          <a:p>
            <a:r>
              <a:rPr lang="it-IT" dirty="0"/>
              <a:t>Variabilità (SD): variabilità/dispersione dei ritardi intorno alla media, quanto i ritardi sono prevedibili vs caotici</a:t>
            </a:r>
            <a:endParaRPr lang="it-IT" b="1" dirty="0"/>
          </a:p>
          <a:p>
            <a:r>
              <a:rPr lang="it-IT" dirty="0"/>
              <a:t>% ritardi gravi: percentuale di voli con ritardo &gt;30 minuti alla partenza</a:t>
            </a:r>
          </a:p>
          <a:p>
            <a:r>
              <a:rPr lang="it-IT" dirty="0"/>
              <a:t>Recupero tempo: differenza tra ritardo partenza e ritardo arrivo</a:t>
            </a:r>
          </a:p>
          <a:p>
            <a:endParaRPr lang="it-IT" dirty="0"/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F7394CC0-300B-2ADE-9C54-752C8E2ACEE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581025" y="2370804"/>
            <a:ext cx="5422900" cy="334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1247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E930C-4EBC-42D1-832E-090397808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244EAA-99D4-883F-7052-EF05F3747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dirty="0"/>
              <a:t>Robustezza della rete</a:t>
            </a:r>
          </a:p>
        </p:txBody>
      </p:sp>
      <p:pic>
        <p:nvPicPr>
          <p:cNvPr id="3" name="Segnaposto contenuto 2">
            <a:extLst>
              <a:ext uri="{FF2B5EF4-FFF2-40B4-BE49-F238E27FC236}">
                <a16:creationId xmlns:a16="http://schemas.microsoft.com/office/drawing/2014/main" id="{1EB0BB52-60FA-2E4D-0A34-E533A655CF1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581025" y="2236523"/>
            <a:ext cx="5422900" cy="3615266"/>
          </a:xfrm>
          <a:prstGeom prst="rect">
            <a:avLst/>
          </a:prstGeom>
        </p:spPr>
      </p:pic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563942D-81E2-F33F-1B4C-C1C7653833B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L'analisi conferma che la rete aerea USA è una rete scale-free robusta-ma-fragile</a:t>
            </a:r>
          </a:p>
          <a:p>
            <a:r>
              <a:rPr lang="it-IT" dirty="0"/>
              <a:t>Robustezza intrinseca della rete, anche rimuovendo i principali hub (primi 15-20 nodi), la componente gigante rimane quasi intatta grazie all'alta ridondanza del sistema. Esistono percorsi alternativi attraverso altri hub secondari che mantengono la connettività della rete.</a:t>
            </a:r>
          </a:p>
          <a:p>
            <a:r>
              <a:rPr lang="it-IT" dirty="0"/>
              <a:t>Struttura scale-free: tipica delle reti di trasporto aereo, questa topologia è estremamente resistente agli attacchi mirati iniziali. La rete "assorbe" la perdita dei primi hub senza frammentarsi.</a:t>
            </a:r>
          </a:p>
        </p:txBody>
      </p:sp>
    </p:spTree>
    <p:extLst>
      <p:ext uri="{BB962C8B-B14F-4D97-AF65-F5344CB8AC3E}">
        <p14:creationId xmlns:p14="http://schemas.microsoft.com/office/powerpoint/2010/main" val="39987756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ttangolo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ttangolo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6" name="Rettangolo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  <p:sp>
          <p:nvSpPr>
            <p:cNvPr id="17" name="Rettangolo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it-IT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5955" y="2479524"/>
            <a:ext cx="3335704" cy="1746762"/>
          </a:xfrm>
        </p:spPr>
        <p:txBody>
          <a:bodyPr rtlCol="0">
            <a:normAutofit/>
          </a:bodyPr>
          <a:lstStyle/>
          <a:p>
            <a:pPr rtl="0"/>
            <a:r>
              <a:rPr lang="it-IT" dirty="0">
                <a:solidFill>
                  <a:srgbClr val="FFFFFF"/>
                </a:solidFill>
              </a:rPr>
              <a:t>Grazie per l’attenzione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 rtlCol="0">
            <a:normAutofit/>
          </a:bodyPr>
          <a:lstStyle/>
          <a:p>
            <a:pPr rtl="0"/>
            <a:endParaRPr lang="it-IT" dirty="0">
              <a:solidFill>
                <a:schemeClr val="bg2"/>
              </a:solidFill>
            </a:endParaRPr>
          </a:p>
          <a:p>
            <a:pPr rtl="0"/>
            <a:endParaRPr lang="it-IT" dirty="0">
              <a:solidFill>
                <a:schemeClr val="bg2"/>
              </a:solidFill>
            </a:endParaRPr>
          </a:p>
          <a:p>
            <a:pPr rtl="0"/>
            <a:endParaRPr lang="it-IT" dirty="0">
              <a:solidFill>
                <a:schemeClr val="bg2"/>
              </a:solidFill>
            </a:endParaRPr>
          </a:p>
        </p:txBody>
      </p:sp>
      <p:pic>
        <p:nvPicPr>
          <p:cNvPr id="5" name="Immagine 4" descr="Numeri digitali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zata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9195_TF56390039_Win32" id="{FCB14B3E-2B92-48B8-A334-05E7A8EE34E1}" vid="{B6EC9E21-8C82-4EB1-BBE7-A370F785D0C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{3A7A96ED-9570-434B-A0AB-122A75279929}TF9cd6fad6-da1d-416b-8dc8-a086cd1045b1af63d5e5_win32-e4eb83cc1259</Template>
  <TotalTime>1661</TotalTime>
  <Words>875</Words>
  <Application>Microsoft Office PowerPoint</Application>
  <PresentationFormat>Widescreen</PresentationFormat>
  <Paragraphs>94</Paragraphs>
  <Slides>17</Slides>
  <Notes>16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17</vt:i4>
      </vt:variant>
    </vt:vector>
  </HeadingPairs>
  <TitlesOfParts>
    <vt:vector size="23" baseType="lpstr">
      <vt:lpstr>Arial</vt:lpstr>
      <vt:lpstr>Calibri</vt:lpstr>
      <vt:lpstr>Gill Sans MT</vt:lpstr>
      <vt:lpstr>Wingdings</vt:lpstr>
      <vt:lpstr>Wingdings 2</vt:lpstr>
      <vt:lpstr>Personalizzata</vt:lpstr>
      <vt:lpstr>Analisi RETE AEREA USA</vt:lpstr>
      <vt:lpstr>Obiettivi e dataset</vt:lpstr>
      <vt:lpstr>Visualizzazione interattiva del grafo </vt:lpstr>
      <vt:lpstr>Aeroporti per betweenness</vt:lpstr>
      <vt:lpstr>Mappa geografica Usa e principali rotte aeree</vt:lpstr>
      <vt:lpstr>Aeroporti con maggior ritardo alla partenza</vt:lpstr>
      <vt:lpstr>Presentazione standard di PowerPoint</vt:lpstr>
      <vt:lpstr>Le rotte con i maggiori ritardi alla partenza</vt:lpstr>
      <vt:lpstr>ANALISI TEMPO PERSO/GUADAGNATO IN VOLO</vt:lpstr>
      <vt:lpstr>ANALISI TEMPO PERSO/GUADAGNATO IN VOLO</vt:lpstr>
      <vt:lpstr>La Direzioni dei  venti influisce?</vt:lpstr>
      <vt:lpstr>ANALISI RITARDI PER GIORNO DELLA SETTIMANA</vt:lpstr>
      <vt:lpstr>Heatmap ritardi partenza</vt:lpstr>
      <vt:lpstr>Cluster aeroporti simili per ritardi</vt:lpstr>
      <vt:lpstr>Confronto tra cluster</vt:lpstr>
      <vt:lpstr>Robustezza della rete</vt:lpstr>
      <vt:lpstr>Grazie per l’attenzione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Di Noto Marrella</dc:creator>
  <cp:lastModifiedBy>Patrick Di Noto Marrella</cp:lastModifiedBy>
  <cp:revision>7</cp:revision>
  <dcterms:created xsi:type="dcterms:W3CDTF">2026-01-21T14:01:44Z</dcterms:created>
  <dcterms:modified xsi:type="dcterms:W3CDTF">2026-01-22T17:43:17Z</dcterms:modified>
</cp:coreProperties>
</file>